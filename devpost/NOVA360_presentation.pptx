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e5b6b95-b669-8a8a-4ed0-f0673b33d750}">
          <p14:sldIdLst>
            <p14:sldId id="256"/>
          </p14:sldIdLst>
        </p14:section>
        <p14:section name="Le problème" id="{9cfd6181-d93e-ae62-b59d-47c09a8f5841}">
          <p14:sldIdLst>
            <p14:sldId id="257"/>
          </p14:sldIdLst>
        </p14:section>
        <p14:section name="Notre solution" id="{404ce1b5-869f-dd11-294d-ac5f99a69d9b}">
          <p14:sldIdLst>
            <p14:sldId id="258"/>
            <p14:sldId id="259"/>
            <p14:sldId id="260"/>
            <p14:sldId id="261"/>
          </p14:sldIdLst>
        </p14:section>
        <p14:section name="Démonstration" id="{f8ecdcb8-b902-06fe-582e-6c1ce50a1e86}">
          <p14:sldIdLst>
            <p14:sldId id="262"/>
          </p14:sldIdLst>
        </p14:section>
        <p14:section name="Nouvelle information" id="{8347c798-3e40-53c2-c967-000c7f1ee5e2}">
          <p14:sldIdLst>
            <p14:sldId id="263"/>
          </p14:sldIdLst>
        </p14:section>
        <p14:section name="Fiabilité et limites" id="{73c0b665-4543-0ef0-7387-591fa26f8c66}">
          <p14:sldIdLst>
            <p14:sldId id="264"/>
            <p14:sldId id="265"/>
          </p14:sldIdLst>
        </p14:section>
        <p14:section name="Conclusion" id="{b106dfb7-a5a3-2ced-bc2d-47a7749c178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: reprendre un projet sans se fier à la mauvaise info. NOVA 360 relie chaque réponse à sa preuve, tranche les contradictions et intègre les nouveautés sans effacer l'historique.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exemples réels du corpus. Une date de fichier récente ne garantit pas l'exactitude ; un correctif livré n'est pas validé ; une demande de changement en brouillon n'autorise aucune dépense.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machine vérifie que chaque preuve existe ; l'équipe vérifie le fond. Le corpus tient dans le contexte du modèle : pas de base vectorielle, rien n'est oublié.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réponses Q01, Q04, Q05, Q06 et Q10, chacune sourcée. Montrer ensuite le brief d'une page dans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comité du 26 sept. (M06 L11-L16), runbook OPS-601 (capture), SEC-210 L25, ACC-303 L16. Les recommandations de notre équipe sont toujours distinguées des engagements documentés.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clé (C-02) : le registre est daté du 29, mais sa ligne date du 9 septembre ; le ticket INT-101 a été fermé le 17. Démo : page Contradictions.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Pilote au clavier, narrateur à l'oral. Viser environ 2 min 30 de parcours, puis 2 min pour la nouvelle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B existe : si l'IA est indisponible, les sources restent ingérées et le brouillon est rempli à la main. Après la démo, les résultats U1 sont poussés dans le dépôt (RESULTATS.md).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L'IA lit, relie et rédige ; la machine vérifie l'existence des preuves ; l'équipe vérifie le fond. Outils : Claude Code (rédaction et développement), Gemini (chat de démo), documentés dans le mode d'emploi.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dire nous-mêmes avant que le jury le demande. Règle : ne jamais inventer ; dire « non documenté » et proposer l'action qui obtiendrait l'information.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Conformément à la consigne de Loto-Québec, les résultats finaux sont dans le dépôt GitHub, consultables sans exécuter le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sur le pitch, puis ouvrir aux questions (aide-mémoire de la passe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34640"/>
            <a:ext cx="1069848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NOVA 360 · Défi Loto-Québec — Projet 360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360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Une mémoire de projet sur laquelle une équipe peut réellement s'appuyer</a:t>
            </a:r>
            <a:endParaRPr lang="en-US" sz="2200" dirty="0"/>
          </a:p>
        </p:txBody>
      </p:sp>
      <p:sp>
        <p:nvSpPr>
          <p:cNvPr id="4" name="defi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Défi Loto-Québec · Projet 360 / NOVA</a:t>
            </a:r>
            <a:endParaRPr lang="en-US" sz="1600" dirty="0"/>
          </a:p>
        </p:txBody>
      </p:sp>
      <p:sp>
        <p:nvSpPr>
          <p:cNvPr id="5" name="logo-disque"/>
          <p:cNvSpPr/>
          <p:nvPr/>
        </p:nvSpPr>
        <p:spPr>
          <a:xfrm>
            <a:off x="10241280" y="525780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ogo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3" y="554309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 fichiers, plusieurs versions de la vérité</a:t>
            </a:r>
            <a:endParaRPr lang="en-US" sz="3600" dirty="0"/>
          </a:p>
        </p:txBody>
      </p:sp>
      <p:sp>
        <p:nvSpPr>
          <p:cNvPr id="3" name="carte-0"/>
          <p:cNvSpPr/>
          <p:nvPr/>
        </p:nvSpPr>
        <p:spPr>
          <a:xfrm>
            <a:off x="548640" y="1417320"/>
            <a:ext cx="3520440" cy="39776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pb-0-disque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pb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date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Le plan v3 (12 sept.) dit : 15 octobre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comité (10 sept.) a décidé : 22 octobre</a:t>
            </a:r>
            <a:endParaRPr lang="en-US" sz="1600" dirty="0"/>
          </a:p>
        </p:txBody>
      </p:sp>
      <p:sp>
        <p:nvSpPr>
          <p:cNvPr id="9" name="pb-0-preuve-1"/>
          <p:cNvSpPr txBox="1"/>
          <p:nvPr/>
        </p:nvSpPr>
        <p:spPr>
          <a:xfrm>
            <a:off x="868680" y="4754880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Plan v3 · E7</a:t>
            </a:r>
            <a:endParaRPr lang="en-US" sz="1100" dirty="0"/>
          </a:p>
        </p:txBody>
      </p:sp>
      <p:sp>
        <p:nvSpPr>
          <p:cNvPr id="10" name="pb-0-preuve-2"/>
          <p:cNvSpPr txBox="1"/>
          <p:nvPr/>
        </p:nvSpPr>
        <p:spPr>
          <a:xfrm>
            <a:off x="2331720" y="4754880"/>
            <a:ext cx="14173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M04 · L17-L23</a:t>
            </a:r>
            <a:endParaRPr lang="en-US" sz="1100" dirty="0"/>
          </a:p>
        </p:txBody>
      </p:sp>
      <p:sp>
        <p:nvSpPr>
          <p:cNvPr id="11" name="carte-1"/>
          <p:cNvSpPr/>
          <p:nvPr/>
        </p:nvSpPr>
        <p:spPr>
          <a:xfrm>
            <a:off x="4343400" y="1417320"/>
            <a:ext cx="3520440" cy="39776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2" name="pb-1-disque"/>
          <p:cNvSpPr/>
          <p:nvPr/>
        </p:nvSpPr>
        <p:spPr>
          <a:xfrm>
            <a:off x="466344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pb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562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sécurité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Le rapport de statut dit : « VERT »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correctif est livré, pas accepté</a:t>
            </a:r>
            <a:endParaRPr lang="en-US" sz="1600" dirty="0"/>
          </a:p>
        </p:txBody>
      </p:sp>
      <p:sp>
        <p:nvSpPr>
          <p:cNvPr id="17" name="pb-1-preuve-1"/>
          <p:cNvSpPr txBox="1"/>
          <p:nvPr/>
        </p:nvSpPr>
        <p:spPr>
          <a:xfrm>
            <a:off x="4663440" y="4754880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Rapport · p.1</a:t>
            </a:r>
            <a:endParaRPr lang="en-US" sz="1100" dirty="0"/>
          </a:p>
        </p:txBody>
      </p:sp>
      <p:sp>
        <p:nvSpPr>
          <p:cNvPr id="18" name="pb-1-preuve-2"/>
          <p:cNvSpPr txBox="1"/>
          <p:nvPr/>
        </p:nvSpPr>
        <p:spPr>
          <a:xfrm>
            <a:off x="6126480" y="4754880"/>
            <a:ext cx="14173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SEC‑210 · L23-L25</a:t>
            </a:r>
            <a:endParaRPr lang="en-US" sz="1100" dirty="0"/>
          </a:p>
        </p:txBody>
      </p:sp>
      <p:sp>
        <p:nvSpPr>
          <p:cNvPr id="19" name="carte-2"/>
          <p:cNvSpPr/>
          <p:nvPr/>
        </p:nvSpPr>
        <p:spPr>
          <a:xfrm>
            <a:off x="8138160" y="1417320"/>
            <a:ext cx="3520440" cy="39776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0" name="pb-2-disque"/>
          <p:cNvSpPr/>
          <p:nvPr/>
        </p:nvSpPr>
        <p:spPr>
          <a:xfrm>
            <a:off x="845820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pb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85623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2688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facture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INV‑003 facture 18 000 $ pour CR‑04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CR‑04 n'est qu'un brouillon non approuvé</a:t>
            </a:r>
            <a:endParaRPr lang="en-US" sz="1600" dirty="0"/>
          </a:p>
        </p:txBody>
      </p:sp>
      <p:sp>
        <p:nvSpPr>
          <p:cNvPr id="25" name="pb-2-preuve-1"/>
          <p:cNvSpPr txBox="1"/>
          <p:nvPr/>
        </p:nvSpPr>
        <p:spPr>
          <a:xfrm>
            <a:off x="8458200" y="4754880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INV‑003 · p.1</a:t>
            </a:r>
            <a:endParaRPr lang="en-US" sz="1100" dirty="0"/>
          </a:p>
        </p:txBody>
      </p:sp>
      <p:sp>
        <p:nvSpPr>
          <p:cNvPr id="26" name="pb-2-preuve-2"/>
          <p:cNvSpPr txBox="1"/>
          <p:nvPr/>
        </p:nvSpPr>
        <p:spPr>
          <a:xfrm>
            <a:off x="9921240" y="4754880"/>
            <a:ext cx="14173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CR‑04 · p.1</a:t>
            </a:r>
            <a:endParaRPr lang="en-US" sz="1100" dirty="0"/>
          </a:p>
        </p:txBody>
      </p:sp>
      <p:sp>
        <p:nvSpPr>
          <p:cNvPr id="27" name="accroche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Le vrai risque n'est pas le manque d'information : c'est de se fier à la mauvaise.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approche « preuve d'abord »</a:t>
            </a:r>
            <a:endParaRPr lang="en-US" sz="3600" dirty="0"/>
          </a:p>
        </p:txBody>
      </p:sp>
      <p:sp>
        <p:nvSpPr>
          <p:cNvPr id="3" name="etape-0"/>
          <p:cNvSpPr/>
          <p:nvPr/>
        </p:nvSpPr>
        <p:spPr>
          <a:xfrm>
            <a:off x="548640" y="150876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etape-0-num"/>
          <p:cNvSpPr txBox="1"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64 fichiers : courriels et pièces jointes, PDF par page, Excel par cellule, captures transcrites</a:t>
            </a:r>
            <a:endParaRPr lang="en-US" sz="1500" dirty="0"/>
          </a:p>
        </p:txBody>
      </p:sp>
      <p:sp>
        <p:nvSpPr>
          <p:cNvPr id="7" name="fleche-0"/>
          <p:cNvSpPr/>
          <p:nvPr/>
        </p:nvSpPr>
        <p:spPr>
          <a:xfrm>
            <a:off x="3127248" y="3108960"/>
            <a:ext cx="237744" cy="41148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etape-1"/>
          <p:cNvSpPr/>
          <p:nvPr/>
        </p:nvSpPr>
        <p:spPr>
          <a:xfrm>
            <a:off x="3429000" y="150876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etape-1-num"/>
          <p:cNvSpPr txBox="1"/>
          <p:nvPr/>
        </p:nvSpPr>
        <p:spPr>
          <a:xfrm>
            <a:off x="3703320" y="1783080"/>
            <a:ext cx="685800" cy="6858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35 événements, 7 décisions, 8 contradictions, 13 actions, 4 risques</a:t>
            </a:r>
            <a:endParaRPr lang="en-US" sz="1500" dirty="0"/>
          </a:p>
        </p:txBody>
      </p:sp>
      <p:sp>
        <p:nvSpPr>
          <p:cNvPr id="12" name="fleche-1"/>
          <p:cNvSpPr/>
          <p:nvPr/>
        </p:nvSpPr>
        <p:spPr>
          <a:xfrm>
            <a:off x="6007608" y="3108960"/>
            <a:ext cx="237744" cy="41148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etape-2"/>
          <p:cNvSpPr/>
          <p:nvPr/>
        </p:nvSpPr>
        <p:spPr>
          <a:xfrm>
            <a:off x="6309360" y="150876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4" name="etape-2-num"/>
          <p:cNvSpPr txBox="1"/>
          <p:nvPr/>
        </p:nvSpPr>
        <p:spPr>
          <a:xfrm>
            <a:off x="6583680" y="1783080"/>
            <a:ext cx="685800" cy="6858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278 citations contrôlées automatiquement contre le corpus ; 44 tests</a:t>
            </a:r>
            <a:endParaRPr lang="en-US" sz="1500" dirty="0"/>
          </a:p>
        </p:txBody>
      </p:sp>
      <p:sp>
        <p:nvSpPr>
          <p:cNvPr id="17" name="fleche-2"/>
          <p:cNvSpPr/>
          <p:nvPr/>
        </p:nvSpPr>
        <p:spPr>
          <a:xfrm>
            <a:off x="8887968" y="3108960"/>
            <a:ext cx="237744" cy="411480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etape-3"/>
          <p:cNvSpPr/>
          <p:nvPr/>
        </p:nvSpPr>
        <p:spPr>
          <a:xfrm>
            <a:off x="9189720" y="1508760"/>
            <a:ext cx="2514600" cy="35661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9" name="etape-3-num"/>
          <p:cNvSpPr txBox="1"/>
          <p:nvPr/>
        </p:nvSpPr>
        <p:spPr>
          <a:xfrm>
            <a:off x="9464040" y="1783080"/>
            <a:ext cx="685800" cy="6858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Servir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2461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Brief d'une page, Q01–Q10, chronologie, dossier de décisions, chat cité</a:t>
            </a:r>
            <a:endParaRPr lang="en-US" sz="1500" dirty="0"/>
          </a:p>
        </p:txBody>
      </p:sp>
      <p:sp>
        <p:nvSpPr>
          <p:cNvPr id="22" name="principe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Chaque affirmation pointe vers un fichier et un repère : ligne, page, cellule ou capture.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savoir pour reprendre NOVA demain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 oct.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Date approuvée par le comité le 10 sept., mais pas un go garanti</a:t>
            </a:r>
            <a:endParaRPr lang="en-US" sz="1600" dirty="0"/>
          </a:p>
        </p:txBody>
      </p:sp>
      <p:sp>
        <p:nvSpPr>
          <p:cNvPr id="5" name="stat-0-preuve"/>
          <p:cNvSpPr txBox="1"/>
          <p:nvPr/>
        </p:nvSpPr>
        <p:spPr>
          <a:xfrm>
            <a:off x="548640" y="4434840"/>
            <a:ext cx="160020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M04 · L17-L23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9260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Conditions de go-live encore ouvertes : SEC‑210, ACC‑303, runbook</a:t>
            </a:r>
            <a:endParaRPr lang="en-US" sz="1600" dirty="0"/>
          </a:p>
        </p:txBody>
      </p:sp>
      <p:sp>
        <p:nvSpPr>
          <p:cNvPr id="8" name="stat-1-preuve"/>
          <p:cNvSpPr txBox="1"/>
          <p:nvPr/>
        </p:nvSpPr>
        <p:spPr>
          <a:xfrm>
            <a:off x="3429000" y="4434840"/>
            <a:ext cx="160020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M06 · L11-L16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 k$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9260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Autorisés : 180 000 $ du contrat + 24 000 $ de CR‑01 approuvé</a:t>
            </a:r>
            <a:endParaRPr lang="en-US" sz="1600" dirty="0"/>
          </a:p>
        </p:txBody>
      </p:sp>
      <p:sp>
        <p:nvSpPr>
          <p:cNvPr id="11" name="stat-2-preuve"/>
          <p:cNvSpPr txBox="1"/>
          <p:nvPr/>
        </p:nvSpPr>
        <p:spPr>
          <a:xfrm>
            <a:off x="6309360" y="4434840"/>
            <a:ext cx="160020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CR‑01 · p.1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459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 k$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9260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Facturés sans autorisation sur INV‑003 (CR‑04, brouillon)</a:t>
            </a:r>
            <a:endParaRPr lang="en-US" sz="1600" dirty="0"/>
          </a:p>
        </p:txBody>
      </p:sp>
      <p:sp>
        <p:nvSpPr>
          <p:cNvPr id="14" name="stat-3-preuve"/>
          <p:cNvSpPr txBox="1"/>
          <p:nvPr/>
        </p:nvSpPr>
        <p:spPr>
          <a:xfrm>
            <a:off x="9189720" y="4434840"/>
            <a:ext cx="160020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INV‑003 · p.1</a:t>
            </a:r>
            <a:endParaRPr lang="en-US" sz="1100" dirty="0"/>
          </a:p>
        </p:txBody>
      </p:sp>
      <p:sp>
        <p:nvSpPr>
          <p:cNvPr id="15" name="responsable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resp-disque"/>
          <p:cNvSpPr/>
          <p:nvPr/>
        </p:nvSpPr>
        <p:spPr>
          <a:xfrm>
            <a:off x="777240" y="5239512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resp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393131"/>
            <a:ext cx="332842" cy="33284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00200" y="5120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Responsable : Nicolas Perron, chargé de projet depuis le 16 septembre 2026 (Élodie Caron avant lui).</a:t>
            </a:r>
            <a:endParaRPr lang="en-US" sz="1600" dirty="0"/>
          </a:p>
        </p:txBody>
      </p:sp>
      <p:sp>
        <p:nvSpPr>
          <p:cNvPr id="19" name="resp-preuve"/>
          <p:cNvSpPr txBox="1"/>
          <p:nvPr/>
        </p:nvSpPr>
        <p:spPr>
          <a:xfrm>
            <a:off x="10012680" y="5404104"/>
            <a:ext cx="13716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E06 · L3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conditions de go-live, reliées à des actions</a:t>
            </a:r>
            <a:endParaRPr lang="en-US" sz="3600" dirty="0"/>
          </a:p>
        </p:txBody>
      </p:sp>
      <p:graphicFrame>
        <p:nvGraphicFramePr>
          <p:cNvPr id="6" name="tableau-condi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19456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Statut au 30 sept.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Responsable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Échéance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Validation sécurité de SEC‑210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Correctif livré le 19 sept. : EN VALIDATION, non accepté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Sophie Lambert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À confirmer (re-test planifié, sans date)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Fermeture d'ACC‑303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OUVERT : Tab n'atteint pas « Enregistrer » dans la modale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Boréal, puis Mélissa Gagnon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À confirmer (« prochaine build »)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Approbation du runbook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Étape 4 retour arrière TODO, étape 5 « À compléter »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Boréal ops, puis Olivier Côté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À confirmer (« quelques jours avant »)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ttention-disque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ttention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5217566"/>
            <a:ext cx="309067" cy="309067"/>
          </a:xfrm>
          <a:prstGeom prst="rect">
            <a:avLst/>
          </a:prstGeom>
        </p:spPr>
      </p:pic>
      <p:sp>
        <p:nvSpPr>
          <p:cNvPr id="6" name="pas-d-invention"/>
          <p:cNvSpPr txBox="1"/>
          <p:nvPr/>
        </p:nvSpPr>
        <p:spPr>
          <a:xfrm>
            <a:off x="1325880" y="5074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Aucune échéance n'est documentée : nous écrivons « à confirmer » plutôt que d'en inventer une.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contradictions sont tranchées, pas cachées</a:t>
            </a:r>
            <a:endParaRPr lang="en-US" sz="3600" dirty="0"/>
          </a:p>
        </p:txBody>
      </p:sp>
      <p:sp>
        <p:nvSpPr>
          <p:cNvPr id="3" name="perime-0"/>
          <p:cNvSpPr/>
          <p:nvPr/>
        </p:nvSpPr>
        <p:spPr>
          <a:xfrm>
            <a:off x="548640" y="14630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perime-0-disque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perime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8690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v3 (12 sept.) : mise en production le 15 oct.</a:t>
            </a:r>
            <a:endParaRPr lang="en-US" sz="1500" dirty="0"/>
          </a:p>
        </p:txBody>
      </p:sp>
      <p:sp>
        <p:nvSpPr>
          <p:cNvPr id="7" name="fleche-ctr-0"/>
          <p:cNvSpPr/>
          <p:nvPr/>
        </p:nvSpPr>
        <p:spPr>
          <a:xfrm>
            <a:off x="5212080" y="1810512"/>
            <a:ext cx="5486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retenu-0"/>
          <p:cNvSpPr/>
          <p:nvPr/>
        </p:nvSpPr>
        <p:spPr>
          <a:xfrm>
            <a:off x="5943600" y="14630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 w="12700">
            <a:solidFill>
              <a:srgbClr val="E6F2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retenu-0-disque"/>
          <p:cNvSpPr/>
          <p:nvPr/>
        </p:nvSpPr>
        <p:spPr>
          <a:xfrm>
            <a:off x="612648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etenu-0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54" y="18690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12280" y="14630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Comité de direction (10 sept.) : 22 oct.</a:t>
            </a:r>
            <a:endParaRPr lang="en-US" sz="1500" dirty="0"/>
          </a:p>
        </p:txBody>
      </p:sp>
      <p:sp>
        <p:nvSpPr>
          <p:cNvPr id="12" name="base-0"/>
          <p:cNvSpPr txBox="1"/>
          <p:nvPr/>
        </p:nvSpPr>
        <p:spPr>
          <a:xfrm>
            <a:off x="10058400" y="1792224"/>
            <a:ext cx="155448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Autorité + date</a:t>
            </a:r>
            <a:endParaRPr lang="en-US" sz="1300" dirty="0"/>
          </a:p>
        </p:txBody>
      </p:sp>
      <p:sp>
        <p:nvSpPr>
          <p:cNvPr id="13" name="perime-1"/>
          <p:cNvSpPr/>
          <p:nvPr/>
        </p:nvSpPr>
        <p:spPr>
          <a:xfrm>
            <a:off x="548640" y="28346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4" name="perime-1-disque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perime-1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24063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834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Registre du 29 sept. : connecteur « Ouvert »</a:t>
            </a:r>
            <a:endParaRPr lang="en-US" sz="1500" dirty="0"/>
          </a:p>
        </p:txBody>
      </p:sp>
      <p:sp>
        <p:nvSpPr>
          <p:cNvPr id="17" name="fleche-ctr-1"/>
          <p:cNvSpPr/>
          <p:nvPr/>
        </p:nvSpPr>
        <p:spPr>
          <a:xfrm>
            <a:off x="5212080" y="3182112"/>
            <a:ext cx="5486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retenu-1"/>
          <p:cNvSpPr/>
          <p:nvPr/>
        </p:nvSpPr>
        <p:spPr>
          <a:xfrm>
            <a:off x="5943600" y="28346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 w="12700">
            <a:solidFill>
              <a:srgbClr val="E6F2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9" name="retenu-1-disque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retenu-1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54" y="32406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28346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INT‑101 fermé le 17 sept. (120/120)</a:t>
            </a:r>
            <a:endParaRPr lang="en-US" sz="1500" dirty="0"/>
          </a:p>
        </p:txBody>
      </p:sp>
      <p:sp>
        <p:nvSpPr>
          <p:cNvPr id="22" name="base-1"/>
          <p:cNvSpPr txBox="1"/>
          <p:nvPr/>
        </p:nvSpPr>
        <p:spPr>
          <a:xfrm>
            <a:off x="10058400" y="3163824"/>
            <a:ext cx="155448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Date des faits</a:t>
            </a:r>
            <a:endParaRPr lang="en-US" sz="1300" dirty="0"/>
          </a:p>
        </p:txBody>
      </p:sp>
      <p:sp>
        <p:nvSpPr>
          <p:cNvPr id="23" name="perime-2"/>
          <p:cNvSpPr/>
          <p:nvPr/>
        </p:nvSpPr>
        <p:spPr>
          <a:xfrm>
            <a:off x="548640" y="42062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4" name="perime-2-disque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perime-2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46122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4206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Rapport de statut : sécurité et accessibilité « VERT »</a:t>
            </a:r>
            <a:endParaRPr lang="en-US" sz="1500" dirty="0"/>
          </a:p>
        </p:txBody>
      </p:sp>
      <p:sp>
        <p:nvSpPr>
          <p:cNvPr id="27" name="fleche-ctr-2"/>
          <p:cNvSpPr/>
          <p:nvPr/>
        </p:nvSpPr>
        <p:spPr>
          <a:xfrm>
            <a:off x="5212080" y="4553712"/>
            <a:ext cx="5486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retenu-2"/>
          <p:cNvSpPr/>
          <p:nvPr/>
        </p:nvSpPr>
        <p:spPr>
          <a:xfrm>
            <a:off x="5943600" y="420624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E6F2EC"/>
          </a:solidFill>
          <a:ln w="12700">
            <a:solidFill>
              <a:srgbClr val="E6F2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9" name="retenu-2-disque"/>
          <p:cNvSpPr/>
          <p:nvPr/>
        </p:nvSpPr>
        <p:spPr>
          <a:xfrm>
            <a:off x="6126480" y="4480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retenu-2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8154" y="46122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4206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SEC‑210 en validation, ACC‑303 ouvert</a:t>
            </a:r>
            <a:endParaRPr lang="en-US" sz="1500" dirty="0"/>
          </a:p>
        </p:txBody>
      </p:sp>
      <p:sp>
        <p:nvSpPr>
          <p:cNvPr id="32" name="base-2"/>
          <p:cNvSpPr txBox="1"/>
          <p:nvPr/>
        </p:nvSpPr>
        <p:spPr>
          <a:xfrm>
            <a:off x="10058400" y="4535424"/>
            <a:ext cx="155448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Autorité</a:t>
            </a:r>
            <a:endParaRPr lang="en-US" sz="1300" dirty="0"/>
          </a:p>
        </p:txBody>
      </p:sp>
      <p:sp>
        <p:nvSpPr>
          <p:cNvPr id="33" name="total-contradictions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4"/>
                </a:solidFill>
              </a:rPr>
              <a:t>8 contradictions résolues au total, chacune avec ses preuves. Jamais par la date du fichier.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en direct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34640"/>
            <a:ext cx="10698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Brief d'une page, avec ses preuves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Q10 : un clic vers la capture du runbook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Contradiction C-02 et chronologie « livré ≠ validé »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Chat : « Qui a approuvé CR‑04 ? »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La nouvelle information, intégrée devant vous</a:t>
            </a:r>
            <a:endParaRPr lang="en-US" sz="1800" dirty="0"/>
          </a:p>
        </p:txBody>
      </p:sp>
      <p:sp>
        <p:nvSpPr>
          <p:cNvPr id="4" name="url-demo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louisbarbonet.github.io/NOVA360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Intégrer une nouvelle information</a:t>
            </a:r>
            <a:endParaRPr lang="en-US" sz="3600" dirty="0"/>
          </a:p>
        </p:txBody>
      </p:sp>
      <p:sp>
        <p:nvSpPr>
          <p:cNvPr id="3" name="flux-0-disque"/>
          <p:cNvSpPr/>
          <p:nvPr/>
        </p:nvSpPr>
        <p:spPr>
          <a:xfrm>
            <a:off x="1051560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flux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125" y="168432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Téléverser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Tout format : courriel, PDF, Excel, capture</a:t>
            </a:r>
            <a:endParaRPr lang="en-US" sz="1400" dirty="0"/>
          </a:p>
        </p:txBody>
      </p:sp>
      <p:sp>
        <p:nvSpPr>
          <p:cNvPr id="7" name="fleche-flux-0"/>
          <p:cNvSpPr/>
          <p:nvPr/>
        </p:nvSpPr>
        <p:spPr>
          <a:xfrm>
            <a:off x="2221992" y="1737360"/>
            <a:ext cx="182880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flux-1-disque"/>
          <p:cNvSpPr/>
          <p:nvPr/>
        </p:nvSpPr>
        <p:spPr>
          <a:xfrm>
            <a:off x="2935224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flux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789" y="168432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32304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Extraire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432304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Pièces jointes citables ; captures transcrites « à relire »</a:t>
            </a:r>
            <a:endParaRPr lang="en-US" sz="1400" dirty="0"/>
          </a:p>
        </p:txBody>
      </p:sp>
      <p:sp>
        <p:nvSpPr>
          <p:cNvPr id="12" name="fleche-flux-1"/>
          <p:cNvSpPr/>
          <p:nvPr/>
        </p:nvSpPr>
        <p:spPr>
          <a:xfrm>
            <a:off x="4105656" y="1737360"/>
            <a:ext cx="182880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flux-2-disque"/>
          <p:cNvSpPr/>
          <p:nvPr/>
        </p:nvSpPr>
        <p:spPr>
          <a:xfrm>
            <a:off x="4818888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flux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68432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15968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Brouillon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15968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 LLM rédige changements, impacts, actions, brief révisé</a:t>
            </a:r>
            <a:endParaRPr lang="en-US" sz="1400" dirty="0"/>
          </a:p>
        </p:txBody>
      </p:sp>
      <p:sp>
        <p:nvSpPr>
          <p:cNvPr id="17" name="fleche-flux-2"/>
          <p:cNvSpPr/>
          <p:nvPr/>
        </p:nvSpPr>
        <p:spPr>
          <a:xfrm>
            <a:off x="5989320" y="1737360"/>
            <a:ext cx="182880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flux-3-disque"/>
          <p:cNvSpPr/>
          <p:nvPr/>
        </p:nvSpPr>
        <p:spPr>
          <a:xfrm>
            <a:off x="6702552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flux-3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117" y="1684325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99632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Garde-fous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199632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Retire tout changement qui ne cite pas la nouvelle source</a:t>
            </a:r>
            <a:endParaRPr lang="en-US" sz="1400" dirty="0"/>
          </a:p>
        </p:txBody>
      </p:sp>
      <p:sp>
        <p:nvSpPr>
          <p:cNvPr id="22" name="fleche-flux-3"/>
          <p:cNvSpPr/>
          <p:nvPr/>
        </p:nvSpPr>
        <p:spPr>
          <a:xfrm>
            <a:off x="7872984" y="1737360"/>
            <a:ext cx="182880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flux-4-disque"/>
          <p:cNvSpPr/>
          <p:nvPr/>
        </p:nvSpPr>
        <p:spPr>
          <a:xfrm>
            <a:off x="8586216" y="15087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flux-4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781" y="1684325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83296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Relecture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083296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Aucune approbation inventée, aucune condition fermée sans preuve</a:t>
            </a:r>
            <a:endParaRPr lang="en-US" sz="1400" dirty="0"/>
          </a:p>
        </p:txBody>
      </p:sp>
      <p:sp>
        <p:nvSpPr>
          <p:cNvPr id="27" name="fleche-flux-4"/>
          <p:cNvSpPr/>
          <p:nvPr/>
        </p:nvSpPr>
        <p:spPr>
          <a:xfrm>
            <a:off x="9756648" y="1737360"/>
            <a:ext cx="182880" cy="292608"/>
          </a:xfrm>
          <a:prstGeom prst="chevron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flux-5-disque"/>
          <p:cNvSpPr/>
          <p:nvPr/>
        </p:nvSpPr>
        <p:spPr>
          <a:xfrm>
            <a:off x="10469880" y="15087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flux-5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445" y="1684325"/>
            <a:ext cx="380390" cy="38039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96696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U1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9966960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Avant / après comparables ; le baseline reste intact</a:t>
            </a:r>
            <a:endParaRPr lang="en-US" sz="1400" dirty="0"/>
          </a:p>
        </p:txBody>
      </p:sp>
      <p:sp>
        <p:nvSpPr>
          <p:cNvPr id="32" name="repetition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3" name="rep-disque"/>
          <p:cNvSpPr/>
          <p:nvPr/>
        </p:nvSpPr>
        <p:spPr>
          <a:xfrm>
            <a:off x="777240" y="480060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4" name="rep-i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965192"/>
            <a:ext cx="356616" cy="356616"/>
          </a:xfrm>
          <a:prstGeom prst="rect">
            <a:avLst/>
          </a:prstGeom>
        </p:spPr>
      </p:pic>
      <p:sp>
        <p:nvSpPr>
          <p:cNvPr id="35" name="repetition-texte"/>
          <p:cNvSpPr txBox="1"/>
          <p:nvPr/>
        </p:nvSpPr>
        <p:spPr>
          <a:xfrm>
            <a:off x="1691640" y="4434840"/>
            <a:ext cx="9738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Répétition réelle 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courriel avec une capture et un PDF en pièces jointes annonce le runbook final « reçu, pas encore approuvé ». Résultat : GL‑3 reste ouverte, sécurité et accessibilité inchangées, brief révisé sur une page, 75 citations valides.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barrières contre l'erreur</a:t>
            </a:r>
            <a:endParaRPr lang="en-US" sz="3600" dirty="0"/>
          </a:p>
        </p:txBody>
      </p:sp>
      <p:sp>
        <p:nvSpPr>
          <p:cNvPr id="3" name="barriere-0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barriere-0-disqu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barriere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9129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automatique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546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citation doit exister dans le corpus. Dans le chat, un repère introuvable s'affiche en rouge.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citations vérifiées</a:t>
            </a:r>
            <a:endParaRPr lang="en-US" sz="1400" dirty="0"/>
          </a:p>
        </p:txBody>
      </p:sp>
      <p:sp>
        <p:nvSpPr>
          <p:cNvPr id="10" name="barriere-1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barriere-1-disque"/>
          <p:cNvSpPr/>
          <p:nvPr/>
        </p:nvSpPr>
        <p:spPr>
          <a:xfrm>
            <a:off x="466344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barriere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19129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Garde-fous déterministes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1546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 changement doit citer la nouvelle source ; ce qui est déclaré « inchangé » ne peut pas changer.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526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automatisés</a:t>
            </a:r>
            <a:endParaRPr lang="en-US" sz="1400" dirty="0"/>
          </a:p>
        </p:txBody>
      </p:sp>
      <p:sp>
        <p:nvSpPr>
          <p:cNvPr id="17" name="barriere-2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8" name="barriere-2-disque"/>
          <p:cNvSpPr/>
          <p:nvPr/>
        </p:nvSpPr>
        <p:spPr>
          <a:xfrm>
            <a:off x="845820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barriere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191292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5820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Relecture humaine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15468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Réponses, mémoire et 12 réponses de chat pré-enregistrées relues par l'équipe.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458200" y="4526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950976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repères inventés par le LLM, détectés et corrigés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ne savons pas, et le disons</a:t>
            </a:r>
            <a:endParaRPr lang="en-US" sz="3600" dirty="0"/>
          </a:p>
        </p:txBody>
      </p:sp>
      <p:sp>
        <p:nvSpPr>
          <p:cNvPr id="3" name="limite-0"/>
          <p:cNvSpPr/>
          <p:nvPr/>
        </p:nvSpPr>
        <p:spPr>
          <a:xfrm>
            <a:off x="548640" y="150876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limite-0-disqu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imite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5087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Échéances non documentées : re-test SEC‑210, build ACC‑303, runbook final</a:t>
            </a:r>
            <a:endParaRPr lang="en-US" sz="1600" dirty="0"/>
          </a:p>
        </p:txBody>
      </p:sp>
      <p:sp>
        <p:nvSpPr>
          <p:cNvPr id="7" name="limite-1"/>
          <p:cNvSpPr/>
          <p:nvPr/>
        </p:nvSpPr>
        <p:spPr>
          <a:xfrm>
            <a:off x="6172200" y="150876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8" name="limite-1-disque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imite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39" y="19366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15087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Acceptation du jalon 3 d'INV‑003 (36 000 $) non prouvée</a:t>
            </a:r>
            <a:endParaRPr lang="en-US" sz="1600" dirty="0"/>
          </a:p>
        </p:txBody>
      </p:sp>
      <p:sp>
        <p:nvSpPr>
          <p:cNvPr id="11" name="limite-2"/>
          <p:cNvSpPr/>
          <p:nvPr/>
        </p:nvSpPr>
        <p:spPr>
          <a:xfrm>
            <a:off x="548640" y="2926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2" name="limite-2-disque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limite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3540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2926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Migration Canada Central prouvée par un compte rendu, pas par une preuve technique</a:t>
            </a:r>
            <a:endParaRPr lang="en-US" sz="1600" dirty="0"/>
          </a:p>
        </p:txBody>
      </p:sp>
      <p:sp>
        <p:nvSpPr>
          <p:cNvPr id="15" name="limite-3"/>
          <p:cNvSpPr/>
          <p:nvPr/>
        </p:nvSpPr>
        <p:spPr>
          <a:xfrm>
            <a:off x="6172200" y="292608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limite-3-disque"/>
          <p:cNvSpPr/>
          <p:nvPr/>
        </p:nvSpPr>
        <p:spPr>
          <a:xfrm>
            <a:off x="644652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limite-3-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33540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29260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Aucune instance go/no-go planifiée ; contrat jusqu'au 31 oct. (9 jours de marge)</a:t>
            </a:r>
            <a:endParaRPr lang="en-US" sz="1600" dirty="0"/>
          </a:p>
        </p:txBody>
      </p:sp>
      <p:sp>
        <p:nvSpPr>
          <p:cNvPr id="19" name="limite-4"/>
          <p:cNvSpPr/>
          <p:nvPr/>
        </p:nvSpPr>
        <p:spPr>
          <a:xfrm>
            <a:off x="548640" y="43434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0" name="limite-4-disque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limite-4-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7713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343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chat peut se tromper : les réponses relues font foi</a:t>
            </a:r>
            <a:endParaRPr lang="en-US" sz="1600" dirty="0"/>
          </a:p>
        </p:txBody>
      </p:sp>
      <p:sp>
        <p:nvSpPr>
          <p:cNvPr id="23" name="limite-5"/>
          <p:cNvSpPr/>
          <p:nvPr/>
        </p:nvSpPr>
        <p:spPr>
          <a:xfrm>
            <a:off x="6172200" y="434340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4" name="limite-5-disque"/>
          <p:cNvSpPr/>
          <p:nvPr/>
        </p:nvSpPr>
        <p:spPr>
          <a:xfrm>
            <a:off x="6446520" y="4617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limite-5-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139" y="4771339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315200" y="4343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Quota gratuit de Gemini limité : bascule entre modèles et plan B manuel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consulter sans installer ni payer quoi que ce soit</a:t>
            </a:r>
            <a:endParaRPr lang="en-US" sz="3600" dirty="0"/>
          </a:p>
        </p:txBody>
      </p:sp>
      <p:sp>
        <p:nvSpPr>
          <p:cNvPr id="3" name="acces-0"/>
          <p:cNvSpPr/>
          <p:nvPr/>
        </p:nvSpPr>
        <p:spPr>
          <a:xfrm>
            <a:off x="54864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" name="acces-0-disqu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acces-0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96961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en ligne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louisbarbonet.github.io/NOVA360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Brief, Q01–Q10, preuves, recherche et chat (clé API gardée secrète par un relais)</a:t>
            </a:r>
            <a:endParaRPr lang="en-US" sz="1500" dirty="0"/>
          </a:p>
        </p:txBody>
      </p:sp>
      <p:sp>
        <p:nvSpPr>
          <p:cNvPr id="9" name="acces-1"/>
          <p:cNvSpPr/>
          <p:nvPr/>
        </p:nvSpPr>
        <p:spPr>
          <a:xfrm>
            <a:off x="434340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0" name="acces-1-disque"/>
          <p:cNvSpPr/>
          <p:nvPr/>
        </p:nvSpPr>
        <p:spPr>
          <a:xfrm>
            <a:off x="4663440" y="178308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acces-1-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78" y="19696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dans le dépôt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github.com/LouisBarbonet/NOVA360 → RESULTATS.md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Tous les livrables lisibles sans exécuter de code, par version</a:t>
            </a:r>
            <a:endParaRPr lang="en-US" sz="1500" dirty="0"/>
          </a:p>
        </p:txBody>
      </p:sp>
      <p:sp>
        <p:nvSpPr>
          <p:cNvPr id="15" name="acces-2"/>
          <p:cNvSpPr/>
          <p:nvPr/>
        </p:nvSpPr>
        <p:spPr>
          <a:xfrm>
            <a:off x="8138160" y="150876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acces-2-disque"/>
          <p:cNvSpPr/>
          <p:nvPr/>
        </p:nvSpPr>
        <p:spPr>
          <a:xfrm>
            <a:off x="8458200" y="178308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acces-2-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196961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hors ligne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NOVA360_remise.zip → dist/index.html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S'ouvre sans serveur ni connexion</a:t>
            </a:r>
            <a:endParaRPr lang="en-US" sz="1500" dirty="0"/>
          </a:p>
        </p:txBody>
      </p:sp>
      <p:sp>
        <p:nvSpPr>
          <p:cNvPr id="21" name="stack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Stack : TypeScript · Vite · GitHub Pages · Cloudflare Workers · Gemini / Claude · 44 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réponse = une preuve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34640"/>
            <a:ext cx="10698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Reprendre un projet sans se fier à la mauvaise info : NOVA 360 relie chaque réponse à sa preuve, tranche les contradictions et intègre les nouveautés sans effacer l'historique.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Et ensuite : ingestion continue des courriels et tickets, alertes sur les échéances « à confirmer », comparaison de plusieurs projets.</a:t>
            </a:r>
            <a:endParaRPr lang="en-US" sz="1800" dirty="0"/>
          </a:p>
        </p:txBody>
      </p:sp>
      <p:sp>
        <p:nvSpPr>
          <p:cNvPr id="4" name="logo-fin-disque"/>
          <p:cNvSpPr/>
          <p:nvPr/>
        </p:nvSpPr>
        <p:spPr>
          <a:xfrm>
            <a:off x="10241280" y="525780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ogo-fin-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3" y="554309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OVA 360">
  <a:themeElements>
    <a:clrScheme name="NOVA 360">
      <a:dk1>
        <a:srgbClr val="1B2A41"/>
      </a:dk1>
      <a:lt1>
        <a:srgbClr val="FFFFFF"/>
      </a:lt1>
      <a:dk2>
        <a:srgbClr val="4A5568"/>
      </a:dk2>
      <a:lt2>
        <a:srgbClr val="EEF2F7"/>
      </a:lt2>
      <a:accent1>
        <a:srgbClr val="E8A33D"/>
      </a:accent1>
      <a:accent2>
        <a:srgbClr val="2E7D5B"/>
      </a:accent2>
      <a:accent3>
        <a:srgbClr val="C0453A"/>
      </a:accent3>
      <a:accent4>
        <a:srgbClr val="3B6EA8"/>
      </a:accent4>
      <a:accent5>
        <a:srgbClr val="7A5BA6"/>
      </a:accent5>
      <a:accent6>
        <a:srgbClr val="8A94A6"/>
      </a:accent6>
      <a:hlink>
        <a:srgbClr val="3B6EA8"/>
      </a:hlink>
      <a:folHlink>
        <a:srgbClr val="7A5BA6"/>
      </a:folHlink>
    </a:clrScheme>
    <a:fontScheme name="NOVA 36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360 — mémoire opérationnelle du projet NOVA</dc:title>
  <dc:subject>Défi Loto-Québec — Projet 360 / NOVA</dc:subject>
  <dc:creator>Équipe NOVA 360</dc:creator>
  <cp:lastModifiedBy>Équipe NOVA 360</cp:lastModifiedBy>
  <cp:revision>1</cp:revision>
  <dcterms:created xsi:type="dcterms:W3CDTF">2026-10-04T19:26:18Z</dcterms:created>
  <dcterms:modified xsi:type="dcterms:W3CDTF">2026-10-04T19:26:18Z</dcterms:modified>
</cp:coreProperties>
</file>